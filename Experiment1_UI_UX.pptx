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App: WhatsApp
Task: Screenshot the main screen of WhatsApp and paste it inside the phone mockup.
Class activity: Ask students to open WhatsApp and identify the UI elements listed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App: Instagram
Task: Screenshot the main screen of Instagram and paste it inside the phone mockup.
Class activity: Ask students to open Instagram and identify the UI elements listed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App: YouTube
Task: Screenshot the main screen of YouTube and paste it inside the phone mockup.
Class activity: Ask students to open YouTube and identify the UI elements listed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App: Amazon
Task: Screenshot the main screen of Amazon and paste it inside the phone mockup.
Class activity: Ask students to open Amazon and identify the UI elements listed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App: Google Maps
Task: Screenshot the main screen of Google Maps and paste it inside the phone mockup.
Class activity: Ask students to open Google Maps and identify the UI elements listed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993392" y="685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468880" y="2743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4114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UI and User Experience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Lab  •  Foundation Module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4114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548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96926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UI and UX concepts and clearly differentiate between them using real-world app examples.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3840480" cy="260604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2395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Deliverable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7614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5–10 slide presentation comparing UI &amp; UX with app examples.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12080" y="3337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Learning Outcome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distinguish UI &amp; UX and identify their roles in digital product design.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User Interface (UI)?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0C2233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(User Interface) refers to the visual elements that a user interacts with on a digital product — everything you can SEE and TOUCH on screen.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944368"/>
            <a:ext cx="14173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Call-to-action controls like 'Send', 'Buy Now', 'Submit'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☰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103120" y="2944368"/>
            <a:ext cx="14173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bars, hamburger menus, dropdowns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🔷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840480" y="2944368"/>
            <a:ext cx="14173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symbols representing actions or categories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577840" y="2944368"/>
            <a:ext cx="14173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fields, checkboxes, radio buttons, text areas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315200" y="2944368"/>
            <a:ext cx="14173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bars, breadcrumbs, sidebars, back buttons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answers: What does it LOOK like?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User Experience (UX)?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1A0B30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(User Experience) encompasses the overall experience a person has while interacting with a product — how it FEELS, how EASY it is, and how SATISFYING the journey 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944368"/>
            <a:ext cx="1417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users complete tasks quickly without confusion?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103120" y="2944368"/>
            <a:ext cx="1417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accomplish goals with minimal steps?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♿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840480" y="2944368"/>
            <a:ext cx="1417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usable by people with different abilities?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577840" y="2944368"/>
            <a:ext cx="1417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users feel positive after using the product?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214884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315200" y="2944368"/>
            <a:ext cx="1417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017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34381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journey from start to finish feel logical?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answers: How does it FEEL to use?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vs UX — Side-by-Side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55448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424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1005840"/>
            <a:ext cx="3474720" cy="475488"/>
          </a:xfrm>
          <a:prstGeom prst="rect">
            <a:avLst/>
          </a:prstGeom>
          <a:solidFill>
            <a:srgbClr val="0891B2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0424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(UI)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66360" y="1005840"/>
            <a:ext cx="3840480" cy="475488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0424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(UX)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" y="1508760"/>
            <a:ext cx="155448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545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1508760"/>
            <a:ext cx="347472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5453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elements users interact with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66360" y="1508760"/>
            <a:ext cx="3840480" cy="475488"/>
          </a:xfrm>
          <a:prstGeom prst="rect">
            <a:avLst/>
          </a:prstGeom>
          <a:solidFill>
            <a:srgbClr val="FAF5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5453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feeling &amp; journey of the user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7160" y="2011680"/>
            <a:ext cx="1554480" cy="475488"/>
          </a:xfrm>
          <a:prstGeom prst="rect">
            <a:avLst/>
          </a:prstGeom>
          <a:solidFill>
            <a:srgbClr val="E0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0482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91640" y="2011680"/>
            <a:ext cx="347472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0482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&amp; Aesthetics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66360" y="2011680"/>
            <a:ext cx="3840480" cy="475488"/>
          </a:xfrm>
          <a:prstGeom prst="rect">
            <a:avLst/>
          </a:prstGeom>
          <a:solidFill>
            <a:srgbClr val="FAF5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0482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&amp; Functionality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7160" y="2514600"/>
            <a:ext cx="155448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5511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91640" y="2514600"/>
            <a:ext cx="347472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25511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look good?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66360" y="2514600"/>
            <a:ext cx="3840480" cy="475488"/>
          </a:xfrm>
          <a:prstGeom prst="rect">
            <a:avLst/>
          </a:prstGeom>
          <a:solidFill>
            <a:srgbClr val="FAF5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5511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 well?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37160" y="3017520"/>
            <a:ext cx="1554480" cy="475488"/>
          </a:xfrm>
          <a:prstGeom prst="rect">
            <a:avLst/>
          </a:prstGeom>
          <a:solidFill>
            <a:srgbClr val="E0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0540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91640" y="3017520"/>
            <a:ext cx="347472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054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fonts, icons, layout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66360" y="3017520"/>
            <a:ext cx="3840480" cy="475488"/>
          </a:xfrm>
          <a:prstGeom prst="rect">
            <a:avLst/>
          </a:prstGeom>
          <a:solidFill>
            <a:srgbClr val="FAF5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0540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Flow, logic, navigation, emotion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7160" y="3520440"/>
            <a:ext cx="155448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35570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91640" y="3520440"/>
            <a:ext cx="347472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83080" y="35570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appealing &amp; consistent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166360" y="3520440"/>
            <a:ext cx="3840480" cy="475488"/>
          </a:xfrm>
          <a:prstGeom prst="rect">
            <a:avLst/>
          </a:prstGeom>
          <a:solidFill>
            <a:srgbClr val="FAF5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557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Smooth, satisfying &amp; intuitive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37160" y="4023360"/>
            <a:ext cx="1554480" cy="475488"/>
          </a:xfrm>
          <a:prstGeom prst="rect">
            <a:avLst/>
          </a:prstGeom>
          <a:solidFill>
            <a:srgbClr val="E0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" y="40599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691640" y="4023360"/>
            <a:ext cx="347472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83080" y="40599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appeal / brand alignment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166360" y="4023360"/>
            <a:ext cx="3840480" cy="475488"/>
          </a:xfrm>
          <a:prstGeom prst="rect">
            <a:avLst/>
          </a:prstGeom>
          <a:solidFill>
            <a:srgbClr val="FAF5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40599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success / user satisfaction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37160" y="4526280"/>
            <a:ext cx="155448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45628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691640" y="4526280"/>
            <a:ext cx="3474720" cy="475488"/>
          </a:xfrm>
          <a:prstGeom prst="rect">
            <a:avLst/>
          </a:prstGeom>
          <a:solidFill>
            <a:srgbClr val="F0FD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83080" y="45628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Figma, Adobe XD, Sketch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166360" y="4526280"/>
            <a:ext cx="3840480" cy="475488"/>
          </a:xfrm>
          <a:prstGeom prst="rect">
            <a:avLst/>
          </a:prstGeom>
          <a:solidFill>
            <a:srgbClr val="FAF5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45628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testing, journey maps, surveys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37160" y="5029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Both UI and UX are essential — great design needs both working together!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1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32918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💬  WhatsApp  —  Messaging App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75320" y="73152"/>
            <a:ext cx="109728" cy="10972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1624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67928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4232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0536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024128"/>
            <a:ext cx="4041648" cy="3950208"/>
          </a:xfrm>
          <a:prstGeom prst="roundRect">
            <a:avLst>
              <a:gd name="adj" fmla="val 2315"/>
            </a:avLst>
          </a:prstGeom>
          <a:solidFill>
            <a:srgbClr val="0C2233"/>
          </a:solidFill>
          <a:ln w="1651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1024128"/>
            <a:ext cx="4041648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98448"/>
            <a:ext cx="4041648" cy="210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0607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UI Elements Identified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645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655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195681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send button, mic icon for voice notes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43230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27432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Camera, attachment, emoji icons in chat bar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" y="352958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Three-dot overflow menu for chat options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00507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014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431596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tabs: Chats, Status, Calls, Communities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70832" y="960120"/>
            <a:ext cx="2231136" cy="4069080"/>
          </a:xfrm>
          <a:prstGeom prst="roundRect">
            <a:avLst>
              <a:gd name="adj" fmla="val 10656"/>
            </a:avLst>
          </a:prstGeom>
          <a:solidFill>
            <a:srgbClr val="1E293B"/>
          </a:solidFill>
          <a:ln w="22860">
            <a:solidFill>
              <a:srgbClr val="475569"/>
            </a:solidFill>
            <a:prstDash val="solid"/>
          </a:ln>
          <a:effectLst>
            <a:outerShdw sx="100000" sy="100000" kx="0" ky="0" algn="bl" rotWithShape="0" blurRad="228600" dist="63500" dir="27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84064" y="1097280"/>
            <a:ext cx="804672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1060704"/>
            <a:ext cx="155448" cy="1554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1325880"/>
            <a:ext cx="1956816" cy="3374136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dashDot"/>
          </a:ln>
        </p:spPr>
      </p:sp>
      <p:sp>
        <p:nvSpPr>
          <p:cNvPr id="31" name="Shape 29"/>
          <p:cNvSpPr/>
          <p:nvPr/>
        </p:nvSpPr>
        <p:spPr>
          <a:xfrm>
            <a:off x="4507992" y="1325880"/>
            <a:ext cx="1956816" cy="32918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13441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7992" y="18013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07992" y="22219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07992" y="24597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7992" y="2697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081528"/>
            <a:ext cx="159105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17720" y="3218688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236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WhatsApp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81144" y="36850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phone here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47488" y="4864608"/>
            <a:ext cx="877824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1024128"/>
            <a:ext cx="2231136" cy="3950208"/>
          </a:xfrm>
          <a:prstGeom prst="roundRect">
            <a:avLst>
              <a:gd name="adj" fmla="val 4098"/>
            </a:avLst>
          </a:prstGeom>
          <a:solidFill>
            <a:srgbClr val="1A0B30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84848" y="1024128"/>
            <a:ext cx="2231136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1298448"/>
            <a:ext cx="2231136" cy="210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10607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UX Analysis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9457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Use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94576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94576" y="2157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message in under 3 taps from any screen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94576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94576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94576" y="3026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messages &amp; quick reply minimize typing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94576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94576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94576" y="3895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text option, but limited screen reader support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4576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94576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94576" y="4764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ticks (✓✓) give instant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2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32918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📸  Instagram  —  Social Media App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75320" y="73152"/>
            <a:ext cx="109728" cy="109728"/>
          </a:xfrm>
          <a:prstGeom prst="ellipse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1624" y="73152"/>
            <a:ext cx="109728" cy="109728"/>
          </a:xfrm>
          <a:prstGeom prst="ellipse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67928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4232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0536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024128"/>
            <a:ext cx="4041648" cy="3950208"/>
          </a:xfrm>
          <a:prstGeom prst="roundRect">
            <a:avLst>
              <a:gd name="adj" fmla="val 2315"/>
            </a:avLst>
          </a:prstGeom>
          <a:solidFill>
            <a:srgbClr val="0C2233"/>
          </a:solidFill>
          <a:ln w="1651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1024128"/>
            <a:ext cx="4041648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98448"/>
            <a:ext cx="4041648" cy="210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0607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UI Elements Identified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645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655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195681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Heart, comment bubble, share arrow, bookmark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43230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27432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'Follow', 'Message', 'Story' ring on profile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" y="352958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input, hashtag field, location tag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00507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014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431596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bar: Home, Search, Reels, Shop, Profile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70832" y="960120"/>
            <a:ext cx="2231136" cy="4069080"/>
          </a:xfrm>
          <a:prstGeom prst="roundRect">
            <a:avLst>
              <a:gd name="adj" fmla="val 10656"/>
            </a:avLst>
          </a:prstGeom>
          <a:solidFill>
            <a:srgbClr val="1E293B"/>
          </a:solidFill>
          <a:ln w="22860">
            <a:solidFill>
              <a:srgbClr val="475569"/>
            </a:solidFill>
            <a:prstDash val="solid"/>
          </a:ln>
          <a:effectLst>
            <a:outerShdw sx="100000" sy="100000" kx="0" ky="0" algn="bl" rotWithShape="0" blurRad="228600" dist="63500" dir="27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84064" y="1097280"/>
            <a:ext cx="804672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1060704"/>
            <a:ext cx="155448" cy="1554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1325880"/>
            <a:ext cx="1956816" cy="3374136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dashDot"/>
          </a:ln>
        </p:spPr>
      </p:sp>
      <p:sp>
        <p:nvSpPr>
          <p:cNvPr id="31" name="Shape 29"/>
          <p:cNvSpPr/>
          <p:nvPr/>
        </p:nvSpPr>
        <p:spPr>
          <a:xfrm>
            <a:off x="4507992" y="1325880"/>
            <a:ext cx="1956816" cy="32918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13441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7992" y="18013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07992" y="22219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07992" y="24597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7992" y="2697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081528"/>
            <a:ext cx="159105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17720" y="3218688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236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Instagram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81144" y="36850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phone here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47488" y="4864608"/>
            <a:ext cx="877824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1024128"/>
            <a:ext cx="2231136" cy="3950208"/>
          </a:xfrm>
          <a:prstGeom prst="roundRect">
            <a:avLst>
              <a:gd name="adj" fmla="val 4098"/>
            </a:avLst>
          </a:prstGeom>
          <a:solidFill>
            <a:srgbClr val="1A0B30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84848" y="1024128"/>
            <a:ext cx="2231136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1298448"/>
            <a:ext cx="2231136" cy="210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10607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UX Analysis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9457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Use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94576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94576" y="2157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a photo takes just 3 steps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94576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94576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94576" y="3026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disappear in 24h — low-pressure sharing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94576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94576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94576" y="3895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alt-text helps, but Reels lack captions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4576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94576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94576" y="4764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&amp; comments drive emotional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3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32918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▶️  YouTube  —  Video Streaming App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75320" y="73152"/>
            <a:ext cx="109728" cy="10972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1624" y="73152"/>
            <a:ext cx="109728" cy="10972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67928" y="73152"/>
            <a:ext cx="109728" cy="10972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4232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0536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024128"/>
            <a:ext cx="4041648" cy="3950208"/>
          </a:xfrm>
          <a:prstGeom prst="roundRect">
            <a:avLst>
              <a:gd name="adj" fmla="val 2315"/>
            </a:avLst>
          </a:prstGeom>
          <a:solidFill>
            <a:srgbClr val="0C2233"/>
          </a:solidFill>
          <a:ln w="1651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1024128"/>
            <a:ext cx="4041648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98448"/>
            <a:ext cx="4041648" cy="210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0607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UI Elements Identified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645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655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195681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👍, Dislike, Subscribe (red CTA)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43230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27432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chips: Today, Watched, New to You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" y="352958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Cast, fullscreen, quality settings icons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00507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014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431596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Shorts, Subscriptions, Library tabs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70832" y="960120"/>
            <a:ext cx="2231136" cy="4069080"/>
          </a:xfrm>
          <a:prstGeom prst="roundRect">
            <a:avLst>
              <a:gd name="adj" fmla="val 10656"/>
            </a:avLst>
          </a:prstGeom>
          <a:solidFill>
            <a:srgbClr val="1E293B"/>
          </a:solidFill>
          <a:ln w="22860">
            <a:solidFill>
              <a:srgbClr val="475569"/>
            </a:solidFill>
            <a:prstDash val="solid"/>
          </a:ln>
          <a:effectLst>
            <a:outerShdw sx="100000" sy="100000" kx="0" ky="0" algn="bl" rotWithShape="0" blurRad="228600" dist="63500" dir="27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84064" y="1097280"/>
            <a:ext cx="804672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1060704"/>
            <a:ext cx="155448" cy="1554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1325880"/>
            <a:ext cx="1956816" cy="3374136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dashDot"/>
          </a:ln>
        </p:spPr>
      </p:sp>
      <p:sp>
        <p:nvSpPr>
          <p:cNvPr id="31" name="Shape 29"/>
          <p:cNvSpPr/>
          <p:nvPr/>
        </p:nvSpPr>
        <p:spPr>
          <a:xfrm>
            <a:off x="4507992" y="1325880"/>
            <a:ext cx="1956816" cy="32918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13441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7992" y="18013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07992" y="22219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07992" y="24597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7992" y="2697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081528"/>
            <a:ext cx="159105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17720" y="3218688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236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▶️ YouTube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81144" y="36850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phone here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47488" y="4864608"/>
            <a:ext cx="877824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1024128"/>
            <a:ext cx="2231136" cy="3950208"/>
          </a:xfrm>
          <a:prstGeom prst="roundRect">
            <a:avLst>
              <a:gd name="adj" fmla="val 4098"/>
            </a:avLst>
          </a:prstGeom>
          <a:solidFill>
            <a:srgbClr val="1A0B30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84848" y="1024128"/>
            <a:ext cx="2231136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1298448"/>
            <a:ext cx="2231136" cy="210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10607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UX Analysis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9457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Use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94576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94576" y="2157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Autoplay keeps users watching without any effort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94576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94576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94576" y="3026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history speeds up finding past videos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94576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94576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94576" y="3895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captions on nearly all videos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4576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94576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94576" y="4764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recommendations feel personalized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4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32918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🛍️  Amazon  —  E-Commerce App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75320" y="73152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1624" y="73152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67928" y="73152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4232" y="73152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0536" y="73152"/>
            <a:ext cx="109728" cy="10972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024128"/>
            <a:ext cx="4041648" cy="3950208"/>
          </a:xfrm>
          <a:prstGeom prst="roundRect">
            <a:avLst>
              <a:gd name="adj" fmla="val 2315"/>
            </a:avLst>
          </a:prstGeom>
          <a:solidFill>
            <a:srgbClr val="0C2233"/>
          </a:solidFill>
          <a:ln w="1651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1024128"/>
            <a:ext cx="4041648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98448"/>
            <a:ext cx="4041648" cy="210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0607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UI Elements Identified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645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655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195681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'Add to Cart' yellow, 'Buy Now' orange — high contrast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43230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27432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bar, filters, quantity selector, address form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" y="352958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ratings ★★★★☆ visually scannable at a glance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00507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014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431596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Hamburger menu with departments, Prime, Deals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70832" y="960120"/>
            <a:ext cx="2231136" cy="4069080"/>
          </a:xfrm>
          <a:prstGeom prst="roundRect">
            <a:avLst>
              <a:gd name="adj" fmla="val 10656"/>
            </a:avLst>
          </a:prstGeom>
          <a:solidFill>
            <a:srgbClr val="1E293B"/>
          </a:solidFill>
          <a:ln w="22860">
            <a:solidFill>
              <a:srgbClr val="475569"/>
            </a:solidFill>
            <a:prstDash val="solid"/>
          </a:ln>
          <a:effectLst>
            <a:outerShdw sx="100000" sy="100000" kx="0" ky="0" algn="bl" rotWithShape="0" blurRad="228600" dist="63500" dir="27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84064" y="1097280"/>
            <a:ext cx="804672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1060704"/>
            <a:ext cx="155448" cy="1554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1325880"/>
            <a:ext cx="1956816" cy="3374136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dashDot"/>
          </a:ln>
        </p:spPr>
      </p:sp>
      <p:sp>
        <p:nvSpPr>
          <p:cNvPr id="31" name="Shape 29"/>
          <p:cNvSpPr/>
          <p:nvPr/>
        </p:nvSpPr>
        <p:spPr>
          <a:xfrm>
            <a:off x="4507992" y="1325880"/>
            <a:ext cx="1956816" cy="3291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13441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🛍️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7992" y="18013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07992" y="22219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07992" y="24597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7992" y="2697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081528"/>
            <a:ext cx="159105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17720" y="3218688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236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Amazon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81144" y="36850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phone here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47488" y="4864608"/>
            <a:ext cx="877824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1024128"/>
            <a:ext cx="2231136" cy="3950208"/>
          </a:xfrm>
          <a:prstGeom prst="roundRect">
            <a:avLst>
              <a:gd name="adj" fmla="val 4098"/>
            </a:avLst>
          </a:prstGeom>
          <a:solidFill>
            <a:srgbClr val="1A0B30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84848" y="1024128"/>
            <a:ext cx="2231136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1298448"/>
            <a:ext cx="2231136" cy="210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10607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UX Analysis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9457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Use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94576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94576" y="2157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Buy removes checkout entirely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94576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94576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94576" y="3026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estimate shown before adding to cart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94576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94576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94576" y="3895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 voice ordering for hands-free shopping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4576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94576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94576" y="4764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 + easy returns reduce anxiety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5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32918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🗺️  Google Maps  —  Navigation App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75320" y="73152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1624" y="73152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67928" y="73152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4232" y="73152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0536" y="73152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024128"/>
            <a:ext cx="4041648" cy="3950208"/>
          </a:xfrm>
          <a:prstGeom prst="roundRect">
            <a:avLst>
              <a:gd name="adj" fmla="val 2315"/>
            </a:avLst>
          </a:prstGeom>
          <a:solidFill>
            <a:srgbClr val="0C2233"/>
          </a:solidFill>
          <a:ln w="1651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1024128"/>
            <a:ext cx="4041648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98448"/>
            <a:ext cx="4041648" cy="210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0607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UI Elements Identified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645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655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195681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Teardrop location pin, blue dot for current position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43230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27432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'Directions', 'Start', 'Overview' CTA buttons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" y="352958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sheet slides up with place details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00507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014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431596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options: Traffic, Satellite, Transit, Cycling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70832" y="960120"/>
            <a:ext cx="2231136" cy="4069080"/>
          </a:xfrm>
          <a:prstGeom prst="roundRect">
            <a:avLst>
              <a:gd name="adj" fmla="val 10656"/>
            </a:avLst>
          </a:prstGeom>
          <a:solidFill>
            <a:srgbClr val="1E293B"/>
          </a:solidFill>
          <a:ln w="22860">
            <a:solidFill>
              <a:srgbClr val="475569"/>
            </a:solidFill>
            <a:prstDash val="solid"/>
          </a:ln>
          <a:effectLst>
            <a:outerShdw sx="100000" sy="100000" kx="0" ky="0" algn="bl" rotWithShape="0" blurRad="228600" dist="63500" dir="27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84064" y="1097280"/>
            <a:ext cx="804672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1060704"/>
            <a:ext cx="155448" cy="1554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1325880"/>
            <a:ext cx="1956816" cy="3374136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dashDot"/>
          </a:ln>
        </p:spPr>
      </p:sp>
      <p:sp>
        <p:nvSpPr>
          <p:cNvPr id="31" name="Shape 29"/>
          <p:cNvSpPr/>
          <p:nvPr/>
        </p:nvSpPr>
        <p:spPr>
          <a:xfrm>
            <a:off x="4507992" y="1325880"/>
            <a:ext cx="1956816" cy="32918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13441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7992" y="18013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07992" y="222199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07992" y="24597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7992" y="2697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081528"/>
            <a:ext cx="159105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17720" y="3218688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236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Google Maps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81144" y="36850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phone here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47488" y="4864608"/>
            <a:ext cx="877824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1024128"/>
            <a:ext cx="2231136" cy="3950208"/>
          </a:xfrm>
          <a:prstGeom prst="roundRect">
            <a:avLst>
              <a:gd name="adj" fmla="val 4098"/>
            </a:avLst>
          </a:prstGeom>
          <a:solidFill>
            <a:srgbClr val="1A0B30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84848" y="1024128"/>
            <a:ext cx="2231136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1298448"/>
            <a:ext cx="2231136" cy="210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10607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UX Analysis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9457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Use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94576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94576" y="2157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navigation means zero screen interaction while driving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94576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94576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94576" y="3026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rerouting avoids traffic automatically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94576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94576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94576" y="3895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reader, large text &amp; offline maps supported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4576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94576" y="4544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94576" y="4764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'You have arrived' confirmation gives closure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UI &amp; UX Analysis of All 5 Apps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987552"/>
            <a:ext cx="1188720" cy="420624"/>
          </a:xfrm>
          <a:prstGeom prst="rect">
            <a:avLst/>
          </a:prstGeom>
          <a:solidFill>
            <a:srgbClr val="0F1B2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" y="100584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25880" y="987552"/>
            <a:ext cx="1828800" cy="420624"/>
          </a:xfrm>
          <a:prstGeom prst="rect">
            <a:avLst/>
          </a:prstGeom>
          <a:solidFill>
            <a:srgbClr val="0F1B2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032" y="100584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UI Element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987552"/>
            <a:ext cx="2286000" cy="420624"/>
          </a:xfrm>
          <a:prstGeom prst="rect">
            <a:avLst/>
          </a:prstGeom>
          <a:solidFill>
            <a:srgbClr val="0F1B2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100584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Highlight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987552"/>
            <a:ext cx="2286000" cy="420624"/>
          </a:xfrm>
          <a:prstGeom prst="rect">
            <a:avLst/>
          </a:prstGeom>
          <a:solidFill>
            <a:srgbClr val="0F1B2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3832" y="100584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Strength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26680" y="987552"/>
            <a:ext cx="1234440" cy="420624"/>
          </a:xfrm>
          <a:prstGeom prst="rect">
            <a:avLst/>
          </a:prstGeom>
          <a:solidFill>
            <a:srgbClr val="0F1B2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00584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Rating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37160" y="1444752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" y="1490472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WhatsApp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25880" y="144475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9032" y="149047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Send Button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54680" y="144475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4904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Minimal, clean interface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44475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14904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message in 3 taps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26680" y="1444752"/>
            <a:ext cx="1234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1490472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7160" y="1444752"/>
            <a:ext cx="45720" cy="56692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" y="2084832"/>
            <a:ext cx="11887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" y="2130552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Instagram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25880" y="2084832"/>
            <a:ext cx="18288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9032" y="213055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/ Like Icon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4680" y="2084832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213055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Visual-first, image-focused UI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40680" y="2084832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213055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= low-pressure sharing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26680" y="2084832"/>
            <a:ext cx="1234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9832" y="2130552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37160" y="2084832"/>
            <a:ext cx="45720" cy="56692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" y="2724912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" y="2770632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▶️ YouTube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325880" y="272491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99032" y="277063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Subscribe Button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154680" y="272491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32" y="277063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Thumbnail-driven feed design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0680" y="272491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77063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Autoplay + captions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726680" y="2724912"/>
            <a:ext cx="1234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99832" y="2770632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37160" y="2724912"/>
            <a:ext cx="45720" cy="5669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" y="3364992"/>
            <a:ext cx="11887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3410712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Amazon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325880" y="3364992"/>
            <a:ext cx="18288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99032" y="341071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'Add to Cart'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154680" y="3364992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27832" y="341071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CTA buttons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40680" y="3364992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13832" y="341071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Buy + order tracking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726680" y="3364992"/>
            <a:ext cx="1234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99832" y="3410712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37160" y="3364992"/>
            <a:ext cx="4572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160" y="4005072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0312" y="4050792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Google Maps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325880" y="400507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99032" y="405079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'Directions' CTA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154680" y="400507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27832" y="405079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roads &amp; clean pins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440680" y="400507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13832" y="405079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nav + real-time reroute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726680" y="4005072"/>
            <a:ext cx="1234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99832" y="4050792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37160" y="4005072"/>
            <a:ext cx="45720" cy="56692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504748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Conclusion: UI makes it beautiful. UX makes it work. Great apps need BOTH.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 &amp; Lab Activity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Learning Outcome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4048" y="162763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9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UI from UX clearly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94767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93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UI elements in any digital 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226771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494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UX aspects: ease, efficiency, accessibility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58775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94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UI &amp; UX work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Your Task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19472" y="1609344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618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66944" y="1600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any app on your phone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19472" y="1929384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9385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66944" y="1920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3 UI elements you can see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19472" y="2249424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2585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66944" y="2240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its UX: ease, efficiency, accessibility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9472" y="2569464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66944" y="2560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your findings in 2 minutes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" y="3035808"/>
            <a:ext cx="8686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31455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Discussion Questions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4048" y="362102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60273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 app have excellent UI but terrible UX? Give an example.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84048" y="398678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9684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matters more for a first-time user — UI or UX? Why?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4048" y="435254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3342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improve the UX of one app you use daily?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28600" y="49194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Group Activity: 15 min  |  Presentation: 2 min each  |  Class Discussion: 10 min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1 - UI vs UX</dc:title>
  <dc:subject>PptxGenJS Presentation</dc:subject>
  <dc:creator>PptxGenJS</dc:creator>
  <cp:lastModifiedBy>PptxGenJS</cp:lastModifiedBy>
  <cp:revision>1</cp:revision>
  <dcterms:created xsi:type="dcterms:W3CDTF">2026-06-29T10:08:27Z</dcterms:created>
  <dcterms:modified xsi:type="dcterms:W3CDTF">2026-06-29T10:08:27Z</dcterms:modified>
</cp:coreProperties>
</file>